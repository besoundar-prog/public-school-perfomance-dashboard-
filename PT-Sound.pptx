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75" r:id="rId2"/>
    <p:sldId id="388" r:id="rId3"/>
    <p:sldId id="397" r:id="rId4"/>
    <p:sldId id="391" r:id="rId5"/>
    <p:sldId id="392" r:id="rId6"/>
    <p:sldId id="393" r:id="rId7"/>
    <p:sldId id="394" r:id="rId8"/>
    <p:sldId id="395" r:id="rId9"/>
    <p:sldId id="396" r:id="rId10"/>
    <p:sldId id="366" r:id="rId11"/>
    <p:sldId id="30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590" autoAdjust="0"/>
  </p:normalViewPr>
  <p:slideViewPr>
    <p:cSldViewPr>
      <p:cViewPr varScale="1">
        <p:scale>
          <a:sx n="92" d="100"/>
          <a:sy n="92" d="100"/>
        </p:scale>
        <p:origin x="20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10/19/2026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10/19/2026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10</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19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19 October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19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19 October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19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19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19 October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19 October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3429000" y="-1730851"/>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990601" y="3512438"/>
            <a:ext cx="7012170" cy="885409"/>
          </a:xfrm>
        </p:spPr>
        <p:txBody>
          <a:bodyPr>
            <a:normAutofit/>
          </a:bodyPr>
          <a:lstStyle/>
          <a:p>
            <a:r>
              <a:rPr lang="en-US" sz="2000" b="1" dirty="0">
                <a:solidFill>
                  <a:schemeClr val="tx1"/>
                </a:solidFill>
                <a:latin typeface="Arial" pitchFamily="34" charset="0"/>
                <a:cs typeface="Arial" pitchFamily="34" charset="0"/>
              </a:rPr>
              <a:t>Public School Performance And Attendance Dashboard</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19 October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19202" y="1956916"/>
            <a:ext cx="8610599" cy="1323439"/>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sz="2000" b="1" dirty="0">
                <a:latin typeface="Arial" panose="020B0604020202020204" pitchFamily="34" charset="0"/>
                <a:cs typeface="Arial" panose="020B0604020202020204" pitchFamily="34" charset="0"/>
              </a:rPr>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1" y="4901085"/>
            <a:ext cx="3200400" cy="163782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a:t>
            </a:r>
          </a:p>
          <a:p>
            <a:pPr algn="l"/>
            <a:r>
              <a:rPr lang="en-US" sz="2000" b="1" dirty="0">
                <a:solidFill>
                  <a:schemeClr val="tx1"/>
                </a:solidFill>
              </a:rPr>
              <a:t>Soundarya S,44111013</a:t>
            </a:r>
          </a:p>
          <a:p>
            <a:pPr algn="l"/>
            <a:r>
              <a:rPr lang="en-US" sz="2000" b="1" dirty="0">
                <a:solidFill>
                  <a:schemeClr val="tx1"/>
                </a:solidFill>
              </a:rPr>
              <a:t>B.E CSE</a:t>
            </a:r>
            <a:endParaRPr lang="en-GB" sz="20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
        <p:nvSpPr>
          <p:cNvPr id="3" name="TextBox 2">
            <a:extLst>
              <a:ext uri="{FF2B5EF4-FFF2-40B4-BE49-F238E27FC236}">
                <a16:creationId xmlns:a16="http://schemas.microsoft.com/office/drawing/2014/main" id="{AD9165A6-30B8-918B-409C-265F7D06722E}"/>
              </a:ext>
            </a:extLst>
          </p:cNvPr>
          <p:cNvSpPr txBox="1"/>
          <p:nvPr/>
        </p:nvSpPr>
        <p:spPr>
          <a:xfrm>
            <a:off x="4768843" y="4900045"/>
            <a:ext cx="3200400" cy="954107"/>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GUIDE</a:t>
            </a:r>
          </a:p>
          <a:p>
            <a:r>
              <a:rPr lang="en-IN" b="1" dirty="0" err="1">
                <a:latin typeface="Arial" panose="020B0604020202020204" pitchFamily="34" charset="0"/>
                <a:cs typeface="Arial" panose="020B0604020202020204" pitchFamily="34" charset="0"/>
              </a:rPr>
              <a:t>Dr.B.Ankayarkanni</a:t>
            </a:r>
            <a:endParaRPr lang="en-IN"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lnSpcReduction="10000"/>
          </a:bodyPr>
          <a:lstStyle/>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F8AE-2459-994F-5FC9-45292B666EF2}"/>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C7FCB45E-EB5C-A769-4B84-7DD17EA85783}"/>
              </a:ext>
            </a:extLst>
          </p:cNvPr>
          <p:cNvSpPr>
            <a:spLocks noGrp="1"/>
          </p:cNvSpPr>
          <p:nvPr>
            <p:ph idx="1"/>
          </p:nvPr>
        </p:nvSpPr>
        <p:spPr>
          <a:xfrm>
            <a:off x="457200" y="1447800"/>
            <a:ext cx="8229600" cy="5029200"/>
          </a:xfrm>
        </p:spPr>
        <p:txBody>
          <a:bodyPr>
            <a:normAutofit fontScale="92500" lnSpcReduction="10000"/>
          </a:bodyPr>
          <a:lstStyle/>
          <a:p>
            <a:pPr marL="0" indent="0">
              <a:buNone/>
            </a:pPr>
            <a:r>
              <a:rPr lang="en-IN" dirty="0"/>
              <a:t>This project focuses on </a:t>
            </a:r>
            <a:r>
              <a:rPr lang="en-IN" dirty="0" err="1"/>
              <a:t>analyzing</a:t>
            </a:r>
            <a:r>
              <a:rPr lang="en-IN" dirty="0"/>
              <a:t> educational data to develop a comprehensive Public School Performance and Attendance Dashboard. Using student-level records, the project evaluates key metrics including academic scores across core subjects (Math, English, Science), daily attendance percentages, and administrative data such as fee payment statuses. The objective is to visualize these interconnected data points, providing educators and school administrators with actionable insights to track academic trends, monitor absenteeism, and improve overall institutional performance. </a:t>
            </a:r>
          </a:p>
        </p:txBody>
      </p:sp>
      <p:sp>
        <p:nvSpPr>
          <p:cNvPr id="4" name="Date Placeholder 3">
            <a:extLst>
              <a:ext uri="{FF2B5EF4-FFF2-40B4-BE49-F238E27FC236}">
                <a16:creationId xmlns:a16="http://schemas.microsoft.com/office/drawing/2014/main" id="{FB3C87F8-1F5A-EB37-DF47-68AE688E174A}"/>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DC162202-6406-FC3B-B42F-C46396F1AE5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42239F7-4888-1269-E0A4-0E041AD6FC5A}"/>
              </a:ext>
            </a:extLst>
          </p:cNvPr>
          <p:cNvSpPr>
            <a:spLocks noGrp="1"/>
          </p:cNvSpPr>
          <p:nvPr>
            <p:ph type="sldNum" sz="quarter" idx="12"/>
          </p:nvPr>
        </p:nvSpPr>
        <p:spPr/>
        <p:txBody>
          <a:bodyPr/>
          <a:lstStyle/>
          <a:p>
            <a:fld id="{7B28076C-CE04-4A00-BFAA-A90EA8355859}" type="slidenum">
              <a:rPr lang="en-US" smtClean="0"/>
              <a:pPr/>
              <a:t>3</a:t>
            </a:fld>
            <a:endParaRPr lang="en-US"/>
          </a:p>
        </p:txBody>
      </p:sp>
    </p:spTree>
    <p:extLst>
      <p:ext uri="{BB962C8B-B14F-4D97-AF65-F5344CB8AC3E}">
        <p14:creationId xmlns:p14="http://schemas.microsoft.com/office/powerpoint/2010/main" val="3991895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1DAC-8534-526B-B6F5-3C37644A2FF7}"/>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726237B3-EB88-3CAD-28A3-38A0A33C37ED}"/>
              </a:ext>
            </a:extLst>
          </p:cNvPr>
          <p:cNvSpPr>
            <a:spLocks noGrp="1"/>
          </p:cNvSpPr>
          <p:nvPr>
            <p:ph idx="1"/>
          </p:nvPr>
        </p:nvSpPr>
        <p:spPr/>
        <p:txBody>
          <a:bodyPr>
            <a:normAutofit fontScale="92500" lnSpcReduction="20000"/>
          </a:bodyPr>
          <a:lstStyle/>
          <a:p>
            <a:pPr lvl="0"/>
            <a:r>
              <a:rPr lang="en-IN" dirty="0"/>
              <a:t>Public schools maintain large amounts of student attendance and academic data. </a:t>
            </a:r>
          </a:p>
          <a:p>
            <a:pPr lvl="0"/>
            <a:r>
              <a:rPr lang="en-IN" dirty="0"/>
              <a:t>Manual management of this information can be time-consuming. </a:t>
            </a:r>
          </a:p>
          <a:p>
            <a:pPr lvl="0"/>
            <a:r>
              <a:rPr lang="en-IN" dirty="0"/>
              <a:t>The proposed dashboard provides a centralized system for managing student data. </a:t>
            </a:r>
          </a:p>
          <a:p>
            <a:pPr lvl="0"/>
            <a:r>
              <a:rPr lang="en-IN" dirty="0"/>
              <a:t>It displays attendance and performance through graphs, charts, and summary indicators. </a:t>
            </a:r>
          </a:p>
          <a:p>
            <a:pPr lvl="0"/>
            <a:r>
              <a:rPr lang="en-IN" dirty="0"/>
              <a:t>The system helps schools understand student progress more efficiently.</a:t>
            </a:r>
          </a:p>
          <a:p>
            <a:endParaRPr lang="en-IN" dirty="0"/>
          </a:p>
        </p:txBody>
      </p:sp>
      <p:sp>
        <p:nvSpPr>
          <p:cNvPr id="4" name="Date Placeholder 3">
            <a:extLst>
              <a:ext uri="{FF2B5EF4-FFF2-40B4-BE49-F238E27FC236}">
                <a16:creationId xmlns:a16="http://schemas.microsoft.com/office/drawing/2014/main" id="{7EF146A1-86F0-D190-26CC-1D69445A39FA}"/>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B23AEB7F-5321-70BA-A4B3-275E7128452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2D603CF-4235-7FE1-0C5F-B78D46FB869C}"/>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396305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E452-E059-6F3E-2F6F-0B68C21F8E4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C6D11D29-48A4-99B9-1458-5276814525BF}"/>
              </a:ext>
            </a:extLst>
          </p:cNvPr>
          <p:cNvSpPr>
            <a:spLocks noGrp="1"/>
          </p:cNvSpPr>
          <p:nvPr>
            <p:ph idx="1"/>
          </p:nvPr>
        </p:nvSpPr>
        <p:spPr/>
        <p:txBody>
          <a:bodyPr>
            <a:normAutofit fontScale="92500" lnSpcReduction="10000"/>
          </a:bodyPr>
          <a:lstStyle/>
          <a:p>
            <a:pPr lvl="0"/>
            <a:r>
              <a:rPr lang="en-IN" dirty="0"/>
              <a:t>To monitor student attendance digitally. </a:t>
            </a:r>
          </a:p>
          <a:p>
            <a:pPr lvl="0"/>
            <a:r>
              <a:rPr lang="en-IN" dirty="0"/>
              <a:t>To track academic performance and subject-wise marks. </a:t>
            </a:r>
          </a:p>
          <a:p>
            <a:pPr lvl="0"/>
            <a:r>
              <a:rPr lang="en-IN" dirty="0"/>
              <a:t>To identify students with low attendance and performance. </a:t>
            </a:r>
          </a:p>
          <a:p>
            <a:pPr lvl="0"/>
            <a:r>
              <a:rPr lang="en-IN" dirty="0"/>
              <a:t>To provide clear visual reports and statistics. </a:t>
            </a:r>
          </a:p>
          <a:p>
            <a:pPr lvl="0"/>
            <a:r>
              <a:rPr lang="en-IN" dirty="0"/>
              <a:t>To reduce manual record management. </a:t>
            </a:r>
          </a:p>
          <a:p>
            <a:pPr lvl="0"/>
            <a:r>
              <a:rPr lang="en-IN" dirty="0"/>
              <a:t>To support teachers and administrators in student monitoring.</a:t>
            </a:r>
          </a:p>
          <a:p>
            <a:endParaRPr lang="en-IN" dirty="0"/>
          </a:p>
        </p:txBody>
      </p:sp>
      <p:sp>
        <p:nvSpPr>
          <p:cNvPr id="4" name="Date Placeholder 3">
            <a:extLst>
              <a:ext uri="{FF2B5EF4-FFF2-40B4-BE49-F238E27FC236}">
                <a16:creationId xmlns:a16="http://schemas.microsoft.com/office/drawing/2014/main" id="{0F0F1D07-3B15-0B00-2B00-EE6BCB5E66A0}"/>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0D0EBF44-7B4C-EC01-62AF-23A379C5EF4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29153D1-6D41-F573-2D50-1E514AB594D3}"/>
              </a:ext>
            </a:extLst>
          </p:cNvPr>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3057115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906D-0294-2283-791D-BA1C47AD05D7}"/>
              </a:ext>
            </a:extLst>
          </p:cNvPr>
          <p:cNvSpPr>
            <a:spLocks noGrp="1"/>
          </p:cNvSpPr>
          <p:nvPr>
            <p:ph type="title"/>
          </p:nvPr>
        </p:nvSpPr>
        <p:spPr>
          <a:xfrm>
            <a:off x="298940" y="533400"/>
            <a:ext cx="8229600" cy="838200"/>
          </a:xfrm>
        </p:spPr>
        <p:txBody>
          <a:bodyPr>
            <a:normAutofit fontScale="90000"/>
          </a:bodyPr>
          <a:lstStyle/>
          <a:p>
            <a:r>
              <a:rPr lang="en-US" dirty="0"/>
              <a:t>System Architecture / Ideation Map</a:t>
            </a:r>
            <a:br>
              <a:rPr lang="en-US" dirty="0"/>
            </a:br>
            <a:endParaRPr lang="en-IN" dirty="0"/>
          </a:p>
        </p:txBody>
      </p:sp>
      <p:sp>
        <p:nvSpPr>
          <p:cNvPr id="4" name="Date Placeholder 3">
            <a:extLst>
              <a:ext uri="{FF2B5EF4-FFF2-40B4-BE49-F238E27FC236}">
                <a16:creationId xmlns:a16="http://schemas.microsoft.com/office/drawing/2014/main" id="{76F3E4D4-5B6C-8E80-3F85-E79C924F627B}"/>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FAB1D7C2-116B-5079-2481-A92331B0EFB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DFE652B-083E-46F2-4CA2-5C74600C78ED}"/>
              </a:ext>
            </a:extLst>
          </p:cNvPr>
          <p:cNvSpPr>
            <a:spLocks noGrp="1"/>
          </p:cNvSpPr>
          <p:nvPr>
            <p:ph type="sldNum" sz="quarter" idx="12"/>
          </p:nvPr>
        </p:nvSpPr>
        <p:spPr/>
        <p:txBody>
          <a:bodyPr/>
          <a:lstStyle/>
          <a:p>
            <a:fld id="{7B28076C-CE04-4A00-BFAA-A90EA8355859}" type="slidenum">
              <a:rPr lang="en-US" smtClean="0"/>
              <a:pPr/>
              <a:t>6</a:t>
            </a:fld>
            <a:endParaRPr lang="en-US"/>
          </a:p>
        </p:txBody>
      </p:sp>
      <p:pic>
        <p:nvPicPr>
          <p:cNvPr id="12" name="Content Placeholder 11">
            <a:extLst>
              <a:ext uri="{FF2B5EF4-FFF2-40B4-BE49-F238E27FC236}">
                <a16:creationId xmlns:a16="http://schemas.microsoft.com/office/drawing/2014/main" id="{0CFF8EBC-8B29-4D57-A4C1-D3A135529D93}"/>
              </a:ext>
            </a:extLst>
          </p:cNvPr>
          <p:cNvPicPr>
            <a:picLocks noGrp="1" noChangeAspect="1"/>
          </p:cNvPicPr>
          <p:nvPr>
            <p:ph idx="1"/>
          </p:nvPr>
        </p:nvPicPr>
        <p:blipFill>
          <a:blip r:embed="rId2"/>
          <a:stretch>
            <a:fillRect/>
          </a:stretch>
        </p:blipFill>
        <p:spPr>
          <a:xfrm>
            <a:off x="609600" y="1524000"/>
            <a:ext cx="7918940" cy="4602163"/>
          </a:xfrm>
          <a:prstGeom prst="rect">
            <a:avLst/>
          </a:prstGeom>
        </p:spPr>
      </p:pic>
    </p:spTree>
    <p:extLst>
      <p:ext uri="{BB962C8B-B14F-4D97-AF65-F5344CB8AC3E}">
        <p14:creationId xmlns:p14="http://schemas.microsoft.com/office/powerpoint/2010/main" val="69278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5449-CD57-2D57-6333-9C94449FDB43}"/>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FFE89DCB-21CC-D3D8-D516-2A4CEB55CB76}"/>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9DF01D6D-A1E6-ECB5-E815-CFDE0960717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C17D4B0-CB02-A75A-9A1B-5C42C18CB512}"/>
              </a:ext>
            </a:extLst>
          </p:cNvPr>
          <p:cNvSpPr>
            <a:spLocks noGrp="1"/>
          </p:cNvSpPr>
          <p:nvPr>
            <p:ph type="sldNum" sz="quarter" idx="12"/>
          </p:nvPr>
        </p:nvSpPr>
        <p:spPr/>
        <p:txBody>
          <a:bodyPr/>
          <a:lstStyle/>
          <a:p>
            <a:fld id="{7B28076C-CE04-4A00-BFAA-A90EA8355859}" type="slidenum">
              <a:rPr lang="en-US" smtClean="0"/>
              <a:pPr/>
              <a:t>7</a:t>
            </a:fld>
            <a:endParaRPr lang="en-US"/>
          </a:p>
        </p:txBody>
      </p:sp>
      <p:sp>
        <p:nvSpPr>
          <p:cNvPr id="10" name="Content Placeholder 9">
            <a:extLst>
              <a:ext uri="{FF2B5EF4-FFF2-40B4-BE49-F238E27FC236}">
                <a16:creationId xmlns:a16="http://schemas.microsoft.com/office/drawing/2014/main" id="{62D7430C-61C4-705A-5FB9-3B2312C49B4A}"/>
              </a:ext>
            </a:extLst>
          </p:cNvPr>
          <p:cNvSpPr>
            <a:spLocks noGrp="1"/>
          </p:cNvSpPr>
          <p:nvPr>
            <p:ph idx="1"/>
          </p:nvPr>
        </p:nvSpPr>
        <p:spPr>
          <a:xfrm>
            <a:off x="457200" y="1371600"/>
            <a:ext cx="8229600" cy="4984750"/>
          </a:xfrm>
        </p:spPr>
        <p:txBody>
          <a:bodyPr>
            <a:normAutofit fontScale="92500" lnSpcReduction="10000"/>
          </a:bodyPr>
          <a:lstStyle/>
          <a:p>
            <a:pPr lvl="0"/>
            <a:r>
              <a:rPr lang="en-IN" b="1" dirty="0"/>
              <a:t>Student Management</a:t>
            </a:r>
            <a:r>
              <a:rPr lang="en-IN" dirty="0"/>
              <a:t> – Student details, class, attendance, and academic records.</a:t>
            </a:r>
          </a:p>
          <a:p>
            <a:pPr lvl="0"/>
            <a:r>
              <a:rPr lang="en-IN" b="1" dirty="0"/>
              <a:t>Attendance Management</a:t>
            </a:r>
            <a:r>
              <a:rPr lang="en-IN" dirty="0"/>
              <a:t> – Daily attendance, absentees, attendance percentage, and trends.</a:t>
            </a:r>
          </a:p>
          <a:p>
            <a:pPr lvl="0"/>
            <a:r>
              <a:rPr lang="en-IN" b="1" dirty="0"/>
              <a:t>Academic Performance</a:t>
            </a:r>
            <a:r>
              <a:rPr lang="en-IN" dirty="0"/>
              <a:t> – Marks, grades, subject-wise performance, and progress.</a:t>
            </a:r>
          </a:p>
          <a:p>
            <a:pPr lvl="0"/>
            <a:r>
              <a:rPr lang="en-IN" b="1" dirty="0"/>
              <a:t>Dashboard &amp; Analytics</a:t>
            </a:r>
            <a:r>
              <a:rPr lang="en-IN" dirty="0"/>
              <a:t> – Charts, graphs, performance comparison, and attendance insights.</a:t>
            </a:r>
          </a:p>
          <a:p>
            <a:pPr lvl="0"/>
            <a:r>
              <a:rPr lang="en-IN" b="1" dirty="0"/>
              <a:t>Reports &amp; Alerts</a:t>
            </a:r>
            <a:r>
              <a:rPr lang="en-IN" dirty="0"/>
              <a:t> – Generate reports and provide alerts for low attendance or poor performance.</a:t>
            </a:r>
          </a:p>
          <a:p>
            <a:endParaRPr lang="en-IN" dirty="0"/>
          </a:p>
        </p:txBody>
      </p:sp>
    </p:spTree>
    <p:extLst>
      <p:ext uri="{BB962C8B-B14F-4D97-AF65-F5344CB8AC3E}">
        <p14:creationId xmlns:p14="http://schemas.microsoft.com/office/powerpoint/2010/main" val="273715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573D3-08A0-50AE-E47C-13EE23D0819E}"/>
              </a:ext>
            </a:extLst>
          </p:cNvPr>
          <p:cNvSpPr>
            <a:spLocks noGrp="1"/>
          </p:cNvSpPr>
          <p:nvPr>
            <p:ph type="title"/>
          </p:nvPr>
        </p:nvSpPr>
        <p:spPr/>
        <p:txBody>
          <a:bodyPr/>
          <a:lstStyle/>
          <a:p>
            <a:r>
              <a:rPr lang="en-IN" dirty="0"/>
              <a:t>Result And Discussion</a:t>
            </a:r>
          </a:p>
        </p:txBody>
      </p:sp>
      <p:sp>
        <p:nvSpPr>
          <p:cNvPr id="4" name="Date Placeholder 3">
            <a:extLst>
              <a:ext uri="{FF2B5EF4-FFF2-40B4-BE49-F238E27FC236}">
                <a16:creationId xmlns:a16="http://schemas.microsoft.com/office/drawing/2014/main" id="{B3677540-3B45-8D61-C737-DAF360504F1C}"/>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42194953-757E-1D29-F811-587EA3EE12F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414A9BC-7373-4409-BBDA-73FA91F46036}"/>
              </a:ext>
            </a:extLst>
          </p:cNvPr>
          <p:cNvSpPr>
            <a:spLocks noGrp="1"/>
          </p:cNvSpPr>
          <p:nvPr>
            <p:ph type="sldNum" sz="quarter" idx="12"/>
          </p:nvPr>
        </p:nvSpPr>
        <p:spPr/>
        <p:txBody>
          <a:bodyPr/>
          <a:lstStyle/>
          <a:p>
            <a:fld id="{7B28076C-CE04-4A00-BFAA-A90EA8355859}" type="slidenum">
              <a:rPr lang="en-US" smtClean="0"/>
              <a:pPr/>
              <a:t>8</a:t>
            </a:fld>
            <a:endParaRPr lang="en-US"/>
          </a:p>
        </p:txBody>
      </p:sp>
      <p:sp>
        <p:nvSpPr>
          <p:cNvPr id="9" name="Content Placeholder 8">
            <a:extLst>
              <a:ext uri="{FF2B5EF4-FFF2-40B4-BE49-F238E27FC236}">
                <a16:creationId xmlns:a16="http://schemas.microsoft.com/office/drawing/2014/main" id="{31BB34FA-FD71-7AB8-90B3-A3223D70FFB2}"/>
              </a:ext>
            </a:extLst>
          </p:cNvPr>
          <p:cNvSpPr>
            <a:spLocks noGrp="1"/>
          </p:cNvSpPr>
          <p:nvPr>
            <p:ph idx="1"/>
          </p:nvPr>
        </p:nvSpPr>
        <p:spPr>
          <a:xfrm>
            <a:off x="457200" y="1371600"/>
            <a:ext cx="8229600" cy="5105400"/>
          </a:xfrm>
        </p:spPr>
        <p:txBody>
          <a:bodyPr>
            <a:normAutofit lnSpcReduction="10000"/>
          </a:bodyPr>
          <a:lstStyle/>
          <a:p>
            <a:r>
              <a:rPr lang="en-IN" dirty="0"/>
              <a:t>The dashboard provides a single view of important student information.</a:t>
            </a:r>
          </a:p>
          <a:p>
            <a:r>
              <a:rPr lang="en-IN" dirty="0"/>
              <a:t>Attendance percentages can be monitored easily.</a:t>
            </a:r>
          </a:p>
          <a:p>
            <a:r>
              <a:rPr lang="en-IN" dirty="0"/>
              <a:t>Subject wise performance can be compared using charts.</a:t>
            </a:r>
          </a:p>
          <a:p>
            <a:r>
              <a:rPr lang="en-IN" dirty="0"/>
              <a:t>Students requiring additional attention can be identified.</a:t>
            </a:r>
          </a:p>
          <a:p>
            <a:r>
              <a:rPr lang="en-IN" dirty="0"/>
              <a:t>The system reduces manual data analysis and improves accessibility of information.</a:t>
            </a:r>
          </a:p>
          <a:p>
            <a:endParaRPr lang="en-IN" dirty="0"/>
          </a:p>
        </p:txBody>
      </p:sp>
    </p:spTree>
    <p:extLst>
      <p:ext uri="{BB962C8B-B14F-4D97-AF65-F5344CB8AC3E}">
        <p14:creationId xmlns:p14="http://schemas.microsoft.com/office/powerpoint/2010/main" val="4285346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10AD-E9E2-D6B0-F810-E32923241267}"/>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F5A0EB94-4523-517B-59DF-05475A1CB2E5}"/>
              </a:ext>
            </a:extLst>
          </p:cNvPr>
          <p:cNvSpPr>
            <a:spLocks noGrp="1"/>
          </p:cNvSpPr>
          <p:nvPr>
            <p:ph idx="1"/>
          </p:nvPr>
        </p:nvSpPr>
        <p:spPr>
          <a:xfrm>
            <a:off x="457200" y="1371600"/>
            <a:ext cx="8229600" cy="5257800"/>
          </a:xfrm>
        </p:spPr>
        <p:txBody>
          <a:bodyPr>
            <a:normAutofit fontScale="92500" lnSpcReduction="10000"/>
          </a:bodyPr>
          <a:lstStyle/>
          <a:p>
            <a:pPr lvl="0"/>
            <a:r>
              <a:rPr lang="en-IN" dirty="0"/>
              <a:t>The Public School Performance and Attendance Dashboard provides an organized method for managing student attendance and academic performance. </a:t>
            </a:r>
          </a:p>
          <a:p>
            <a:pPr lvl="0"/>
            <a:r>
              <a:rPr lang="en-IN" dirty="0"/>
              <a:t>It converts raw school data into simple visual information. </a:t>
            </a:r>
          </a:p>
          <a:p>
            <a:pPr lvl="0"/>
            <a:r>
              <a:rPr lang="en-IN" dirty="0"/>
              <a:t>The system helps teachers and administrators monitor student progress efficiently. </a:t>
            </a:r>
          </a:p>
          <a:p>
            <a:pPr lvl="0"/>
            <a:r>
              <a:rPr lang="en-IN" dirty="0"/>
              <a:t>It can be further enhanced with mobile applications, parent notifications, automated reports and AI-based analysis.</a:t>
            </a:r>
          </a:p>
          <a:p>
            <a:endParaRPr lang="en-IN" dirty="0"/>
          </a:p>
        </p:txBody>
      </p:sp>
      <p:sp>
        <p:nvSpPr>
          <p:cNvPr id="4" name="Date Placeholder 3">
            <a:extLst>
              <a:ext uri="{FF2B5EF4-FFF2-40B4-BE49-F238E27FC236}">
                <a16:creationId xmlns:a16="http://schemas.microsoft.com/office/drawing/2014/main" id="{8DE281AC-3436-050D-7E3F-A2BC44B27946}"/>
              </a:ext>
            </a:extLst>
          </p:cNvPr>
          <p:cNvSpPr>
            <a:spLocks noGrp="1"/>
          </p:cNvSpPr>
          <p:nvPr>
            <p:ph type="dt" sz="half" idx="10"/>
          </p:nvPr>
        </p:nvSpPr>
        <p:spPr/>
        <p:txBody>
          <a:bodyPr/>
          <a:lstStyle/>
          <a:p>
            <a:fld id="{EB7275DB-6D13-480B-AC77-F5019BDC5287}" type="datetime3">
              <a:rPr lang="en-US" smtClean="0"/>
              <a:t>19 October 2026</a:t>
            </a:fld>
            <a:endParaRPr lang="en-US"/>
          </a:p>
        </p:txBody>
      </p:sp>
      <p:sp>
        <p:nvSpPr>
          <p:cNvPr id="5" name="Footer Placeholder 4">
            <a:extLst>
              <a:ext uri="{FF2B5EF4-FFF2-40B4-BE49-F238E27FC236}">
                <a16:creationId xmlns:a16="http://schemas.microsoft.com/office/drawing/2014/main" id="{3EDA2D09-6D88-6E96-FF3E-AA97CAA6A13B}"/>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26839BB-E6F1-6F46-320A-93684A0F351F}"/>
              </a:ext>
            </a:extLst>
          </p:cNvPr>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279478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524000"/>
            <a:ext cx="8229600" cy="2209800"/>
          </a:xfrm>
        </p:spPr>
        <p:txBody>
          <a:bodyPr>
            <a:noAutofit/>
          </a:bodyPr>
          <a:lstStyle/>
          <a:p>
            <a:pPr marL="0" lvl="0" indent="0" algn="just">
              <a:buNone/>
            </a:pPr>
            <a:endParaRPr lang="en-US" sz="2000" dirty="0">
              <a:latin typeface="Arial" panose="020B0604020202020204" pitchFamily="34" charset="0"/>
              <a:cs typeface="Arial" panose="020B0604020202020204" pitchFamily="34" charset="0"/>
            </a:endParaRPr>
          </a:p>
          <a:p>
            <a:pPr marL="0" lvl="0" indent="0" algn="just">
              <a:buNone/>
            </a:pPr>
            <a:r>
              <a:rPr lang="en-US" sz="2400" dirty="0">
                <a:latin typeface="Arial" panose="020B0604020202020204" pitchFamily="34" charset="0"/>
                <a:cs typeface="Arial" panose="020B0604020202020204" pitchFamily="34" charset="0"/>
              </a:rPr>
              <a:t>Dataset : Public_School_Performance_Cleaned.csv</a:t>
            </a:r>
          </a:p>
          <a:p>
            <a:pPr marL="0" lvl="0" indent="0" algn="just">
              <a:buNone/>
            </a:pPr>
            <a:r>
              <a:rPr lang="en-US" sz="2400" dirty="0">
                <a:latin typeface="Arial" panose="020B0604020202020204" pitchFamily="34" charset="0"/>
                <a:cs typeface="Arial" panose="020B0604020202020204" pitchFamily="34" charset="0"/>
              </a:rPr>
              <a:t>Software: Google </a:t>
            </a:r>
            <a:r>
              <a:rPr lang="en-US" sz="2400" dirty="0" err="1">
                <a:latin typeface="Arial" panose="020B0604020202020204" pitchFamily="34" charset="0"/>
                <a:cs typeface="Arial" panose="020B0604020202020204" pitchFamily="34" charset="0"/>
              </a:rPr>
              <a:t>Colab</a:t>
            </a:r>
            <a:r>
              <a:rPr lang="en-US" sz="2400" dirty="0">
                <a:latin typeface="Arial" panose="020B0604020202020204" pitchFamily="34" charset="0"/>
                <a:cs typeface="Arial" panose="020B0604020202020204" pitchFamily="34" charset="0"/>
              </a:rPr>
              <a:t> (Python , Pandas documentation).</a:t>
            </a:r>
          </a:p>
          <a:p>
            <a:pPr marL="0" lvl="0" indent="0" algn="just">
              <a:buNone/>
            </a:pPr>
            <a:r>
              <a:rPr lang="en-US" sz="2400" dirty="0">
                <a:latin typeface="Arial" panose="020B0604020202020204" pitchFamily="34" charset="0"/>
                <a:cs typeface="Arial" panose="020B0604020202020204" pitchFamily="34" charset="0"/>
              </a:rPr>
              <a:t>Visualization : Microsoft Power BI Official DAX Reference Guide.</a:t>
            </a:r>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381164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19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11</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6905</TotalTime>
  <Words>564</Words>
  <Application>Microsoft Office PowerPoint</Application>
  <PresentationFormat>On-screen Show (4:3)</PresentationFormat>
  <Paragraphs>94</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Custom Design</vt:lpstr>
      <vt:lpstr>  </vt:lpstr>
      <vt:lpstr>AGENDA</vt:lpstr>
      <vt:lpstr>Abstract</vt:lpstr>
      <vt:lpstr>Introduction</vt:lpstr>
      <vt:lpstr>Objective</vt:lpstr>
      <vt:lpstr>System Architecture / Ideation Map </vt:lpstr>
      <vt:lpstr>Module Implementation</vt:lpstr>
      <vt:lpstr>Result And Discussion</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Sowntharya MR</cp:lastModifiedBy>
  <cp:revision>125</cp:revision>
  <dcterms:created xsi:type="dcterms:W3CDTF">2019-11-06T07:48:53Z</dcterms:created>
  <dcterms:modified xsi:type="dcterms:W3CDTF">2026-10-19T16:25:14Z</dcterms:modified>
</cp:coreProperties>
</file>